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a736e15e74398" /><Relationship Type="http://schemas.openxmlformats.org/officeDocument/2006/relationships/extended-properties" Target="/docProps/app.xml" Id="R8c122c7d506346b1" /><Relationship Type="http://schemas.openxmlformats.org/officeDocument/2006/relationships/officeDocument" Target="/ppt/presentation.xml" Id="R9a100c9efbe84f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d6d49986a746fc"/>
  </p:sldMasterIdLst>
  <p:notesMasterIdLst>
    <p:notesMasterId xmlns:r="http://schemas.openxmlformats.org/officeDocument/2006/relationships" r:id="Re9a9046217d04db7"/>
  </p:notesMasterIdLst>
  <p:sldIdLst>
    <p:sldId xmlns:r="http://schemas.openxmlformats.org/officeDocument/2006/relationships" id="256" r:id="R9bc2494b16be4fff"/>
    <p:sldId xmlns:r="http://schemas.openxmlformats.org/officeDocument/2006/relationships" id="257" r:id="R41d6623284264a38"/>
    <p:sldId xmlns:r="http://schemas.openxmlformats.org/officeDocument/2006/relationships" id="258" r:id="R42112095b30648c4"/>
    <p:sldId xmlns:r="http://schemas.openxmlformats.org/officeDocument/2006/relationships" id="259" r:id="R1faf6316649345e2"/>
    <p:sldId xmlns:r="http://schemas.openxmlformats.org/officeDocument/2006/relationships" id="260" r:id="R173f63d072264b04"/>
    <p:sldId xmlns:r="http://schemas.openxmlformats.org/officeDocument/2006/relationships" id="261" r:id="Rc7abe4adcea54c27"/>
    <p:sldId xmlns:r="http://schemas.openxmlformats.org/officeDocument/2006/relationships" id="262" r:id="R943b9b42cda64d1b"/>
    <p:sldId xmlns:r="http://schemas.openxmlformats.org/officeDocument/2006/relationships" id="263" r:id="R6753b27a6ba841dd"/>
    <p:sldId xmlns:r="http://schemas.openxmlformats.org/officeDocument/2006/relationships" id="264" r:id="Rb4fbb2e04261431c"/>
    <p:sldId xmlns:r="http://schemas.openxmlformats.org/officeDocument/2006/relationships" id="265" r:id="R8652a16fd76749ce"/>
    <p:sldId xmlns:r="http://schemas.openxmlformats.org/officeDocument/2006/relationships" id="266" r:id="R4c02c84c0e02402b"/>
    <p:sldId xmlns:r="http://schemas.openxmlformats.org/officeDocument/2006/relationships" id="267" r:id="R2157722b159744a8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4e652c9b7a427f" /><Relationship Type="http://schemas.openxmlformats.org/officeDocument/2006/relationships/slideMaster" Target="/ppt/slideMasters/slideMaster1.xml" Id="R41d6d49986a746fc" /><Relationship Type="http://schemas.openxmlformats.org/officeDocument/2006/relationships/notesMaster" Target="/ppt/notesMasters/notesMaster1.xml" Id="Re9a9046217d04db7" /><Relationship Type="http://schemas.openxmlformats.org/officeDocument/2006/relationships/presProps" Target="/ppt/presProps.xml" Id="R7285d82dd9d743b4" /><Relationship Type="http://schemas.openxmlformats.org/officeDocument/2006/relationships/tableStyles" Target="/ppt/tableStyles.xml" Id="Rc9ce21ff3c634d31" /><Relationship Type="http://schemas.openxmlformats.org/officeDocument/2006/relationships/slide" Target="/ppt/slides/slide1.xml" Id="R9bc2494b16be4fff" /><Relationship Type="http://schemas.openxmlformats.org/officeDocument/2006/relationships/slide" Target="/ppt/slides/slide2.xml" Id="R41d6623284264a38" /><Relationship Type="http://schemas.openxmlformats.org/officeDocument/2006/relationships/slide" Target="/ppt/slides/slide3.xml" Id="R42112095b30648c4" /><Relationship Type="http://schemas.openxmlformats.org/officeDocument/2006/relationships/slide" Target="/ppt/slides/slide4.xml" Id="R1faf6316649345e2" /><Relationship Type="http://schemas.openxmlformats.org/officeDocument/2006/relationships/slide" Target="/ppt/slides/slide5.xml" Id="R173f63d072264b04" /><Relationship Type="http://schemas.openxmlformats.org/officeDocument/2006/relationships/slide" Target="/ppt/slides/slide6.xml" Id="Rc7abe4adcea54c27" /><Relationship Type="http://schemas.openxmlformats.org/officeDocument/2006/relationships/slide" Target="/ppt/slides/slide7.xml" Id="R943b9b42cda64d1b" /><Relationship Type="http://schemas.openxmlformats.org/officeDocument/2006/relationships/slide" Target="/ppt/slides/slide8.xml" Id="R6753b27a6ba841dd" /><Relationship Type="http://schemas.openxmlformats.org/officeDocument/2006/relationships/slide" Target="/ppt/slides/slide9.xml" Id="Rb4fbb2e04261431c" /><Relationship Type="http://schemas.openxmlformats.org/officeDocument/2006/relationships/slide" Target="/ppt/slides/slide10.xml" Id="R8652a16fd76749ce" /><Relationship Type="http://schemas.openxmlformats.org/officeDocument/2006/relationships/slide" Target="/ppt/slides/slide11.xml" Id="R4c02c84c0e02402b" /><Relationship Type="http://schemas.openxmlformats.org/officeDocument/2006/relationships/slide" Target="/ppt/slides/slide12.xml" Id="R2157722b159744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94aa5d28e649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ea77687bb4dce" /><Relationship Type="http://schemas.openxmlformats.org/officeDocument/2006/relationships/notesMaster" Target="/ppt/notesMasters/notesMaster1.xml" Id="R86f3f520e3a0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24fb9dbdeb4426" /><Relationship Type="http://schemas.openxmlformats.org/officeDocument/2006/relationships/notesMaster" Target="/ppt/notesMasters/notesMaster1.xml" Id="R3c687a78bcb4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151310cac423f" /><Relationship Type="http://schemas.openxmlformats.org/officeDocument/2006/relationships/notesMaster" Target="/ppt/notesMasters/notesMaster1.xml" Id="Rbfe8a61c69c146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dc3935aa849bf" /><Relationship Type="http://schemas.openxmlformats.org/officeDocument/2006/relationships/notesMaster" Target="/ppt/notesMasters/notesMaster1.xml" Id="Raebcaf3c765d49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1935490fc14948" /><Relationship Type="http://schemas.openxmlformats.org/officeDocument/2006/relationships/notesMaster" Target="/ppt/notesMasters/notesMaster1.xml" Id="R794d5863087b4d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c3aa85e6f04c2c" /><Relationship Type="http://schemas.openxmlformats.org/officeDocument/2006/relationships/notesMaster" Target="/ppt/notesMasters/notesMaster1.xml" Id="R8c9688a989d346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9fc191b504230" /><Relationship Type="http://schemas.openxmlformats.org/officeDocument/2006/relationships/notesMaster" Target="/ppt/notesMasters/notesMaster1.xml" Id="Rfc54c17e606749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66708e1d96443d" /><Relationship Type="http://schemas.openxmlformats.org/officeDocument/2006/relationships/notesMaster" Target="/ppt/notesMasters/notesMaster1.xml" Id="Rbd1fb536f41f48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0189b2a26d4642" /><Relationship Type="http://schemas.openxmlformats.org/officeDocument/2006/relationships/notesMaster" Target="/ppt/notesMasters/notesMaster1.xml" Id="R83210d04a3b149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7381adec3f4039" /><Relationship Type="http://schemas.openxmlformats.org/officeDocument/2006/relationships/notesMaster" Target="/ppt/notesMasters/notesMaster1.xml" Id="Rb851d1f059ec46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e926448a634866" /><Relationship Type="http://schemas.openxmlformats.org/officeDocument/2006/relationships/notesMaster" Target="/ppt/notesMasters/notesMaster1.xml" Id="Ra73fa05bcdb24d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31aaccdde54f1e" /><Relationship Type="http://schemas.openxmlformats.org/officeDocument/2006/relationships/notesMaster" Target="/ppt/notesMasters/notesMaster1.xml" Id="R9747a5ae0ca84b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nació de una pregunta sencilla: ¿podemos encontrar patrones que ayuden a entender por qué algunas películas recaudan más que otras?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película implica inversión y expectativas. La taquilla depende también de factores que no siempre podemos medir, por eso hablamos de apoyo para explorar, no de una garantía.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Podría ayudar a equipos de producción, distribución o análisis a comparar casos del pasado y hacer mejores preguntas antes de decidir. No sustituye un estudio financiero.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objetivo fue comparar modelos que reconocen patrones en películas ya estrenadas, usando una definición explícita de éxito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Primero juntamos los archivos, después limpiamos y definimos la etiqueta. Luego comparamos modelos y revisamos los aciertos con datos que no se usaron para entrenar.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Partimos de 4.803 películas. Al exigir presupuesto, recaudación y fecha válidos, quedaron 3.229 para el análisis. La limpieza evita etiquetar películas con cifras incompletas.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este trabajo, éxito significa recaudar al menos dos veces el presupuesto. Es una regla práctica y transparente, pero no equivale a calcular la ganancia neta.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las películas analizables, 56 por ciento cumplió la regla de éxito y 44 por ciento no. Por eso comparamos los modelos con un punto de partida de 56 por ciento.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Incluimos un árbol fácil de explicar y tres métodos que combinan o ajustan patrones de otra manera. La pregunta importante es cuál funcionó mejor en datos no vistos.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obtuvo 66,1 por ciento de aciertos en la prueba. Superó el punto de partida de 56 por ciento, aunque la mejora fue moderada.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cifra no significa que el modelo sea seguro para decidir inversiones: aproximadamente una de cada tres películas quedó mal clasificada. También debemos mirar qué errores comete.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aporte es aprender del historial y comparar perfiles. Para convertirlo en una herramienta previa al estreno, harían falta variables disponibles antes del lanzamiento y una evaluación temporal. Fuentes de datos: https://www.kaggle.com/datasets/tmdb/tmdb-movie-metadata y https://www.kaggle.com/datasets/utkarshx27/movies-dataset?resource=download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32edb390548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51fb70eb046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5b05e9c354e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57aad55754e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1df0a66c340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30a10467c44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02A339-F9E1-4BBE-A826-FDAAAFDCA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0C96BC-A0C0-4DAE-9A2F-47951F9F13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00CDE5-AA23-4CFC-9467-3D78377BB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79ABD0-363B-47B0-8A27-ABAAF5500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2C9F4C-428A-4EF3-B47E-AD1DC9CC8C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E746CB-2DBD-4576-9233-587C00172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CCE035-5C1B-46E0-8805-E16C16A620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60EF73-2276-4FB6-A31B-CD1B4D6DD4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4CC562-504A-4F5B-8228-596907CF1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D8F925-A378-4467-A24A-7EEE3B9A5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a163c6588b4525" /><Relationship Type="http://schemas.openxmlformats.org/officeDocument/2006/relationships/slideLayout" Target="/ppt/slideLayouts/slideLayout1.xml" Id="Ra047931d4c904a48" /><Relationship Type="http://schemas.openxmlformats.org/officeDocument/2006/relationships/slideLayout" Target="/ppt/slideLayouts/slideLayout2.xml" Id="R6966e2918b524215" /><Relationship Type="http://schemas.openxmlformats.org/officeDocument/2006/relationships/slideLayout" Target="/ppt/slideLayouts/slideLayout3.xml" Id="R09370b2ba3064cf3" /><Relationship Type="http://schemas.openxmlformats.org/officeDocument/2006/relationships/slideLayout" Target="/ppt/slideLayouts/slideLayout4.xml" Id="R2086f7b855d34cc9" /><Relationship Type="http://schemas.openxmlformats.org/officeDocument/2006/relationships/slideLayout" Target="/ppt/slideLayouts/slideLayout5.xml" Id="R026c1d2d61c34bbe" /><Relationship Type="http://schemas.openxmlformats.org/officeDocument/2006/relationships/slideLayout" Target="/ppt/slideLayouts/slideLayout6.xml" Id="Rc22d5be89866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7931d4c904a48"/>
    <p:sldLayoutId xmlns:r="http://schemas.openxmlformats.org/officeDocument/2006/relationships" id="2147483650" r:id="R6966e2918b524215"/>
    <p:sldLayoutId xmlns:r="http://schemas.openxmlformats.org/officeDocument/2006/relationships" id="2147483651" r:id="R09370b2ba3064cf3"/>
    <p:sldLayoutId xmlns:r="http://schemas.openxmlformats.org/officeDocument/2006/relationships" id="2147483652" r:id="R2086f7b855d34cc9"/>
    <p:sldLayoutId xmlns:r="http://schemas.openxmlformats.org/officeDocument/2006/relationships" id="2147483653" r:id="R026c1d2d61c34bbe"/>
    <p:sldLayoutId xmlns:r="http://schemas.openxmlformats.org/officeDocument/2006/relationships" id="2147483654" r:id="Rc22d5be89866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e8465fdd0410d" /><Relationship Type="http://schemas.openxmlformats.org/officeDocument/2006/relationships/notesSlide" Target="/ppt/notesSlides/notesSlide1.xml" Id="R1f3abf70dc9344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2826602e741a7" /><Relationship Type="http://schemas.openxmlformats.org/officeDocument/2006/relationships/notesSlide" Target="/ppt/notesSlides/notesSlide2.xml" Id="R764f0077c62846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15e5eeb944d51" /><Relationship Type="http://schemas.openxmlformats.org/officeDocument/2006/relationships/notesSlide" Target="/ppt/notesSlides/notesSlide3.xml" Id="R4c24bc9c23684f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284df4e86421b" /><Relationship Type="http://schemas.openxmlformats.org/officeDocument/2006/relationships/notesSlide" Target="/ppt/notesSlides/notesSlide4.xml" Id="R9ca6b22b76624b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5b268c01d42c0" /><Relationship Type="http://schemas.openxmlformats.org/officeDocument/2006/relationships/notesSlide" Target="/ppt/notesSlides/notesSlide5.xml" Id="R1528b3cd5873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e5d2883744b51" /><Relationship Type="http://schemas.openxmlformats.org/officeDocument/2006/relationships/notesSlide" Target="/ppt/notesSlides/notesSlide6.xml" Id="R5936c28808a549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a51c9ea684f1c" /><Relationship Type="http://schemas.openxmlformats.org/officeDocument/2006/relationships/notesSlide" Target="/ppt/notesSlides/notesSlide7.xml" Id="Ra8138089f43741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f69badd4e44bc" /><Relationship Type="http://schemas.openxmlformats.org/officeDocument/2006/relationships/notesSlide" Target="/ppt/notesSlides/notesSlide8.xml" Id="Ra69037d29ebf48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3fcf7ba32493b" /><Relationship Type="http://schemas.openxmlformats.org/officeDocument/2006/relationships/notesSlide" Target="/ppt/notesSlides/notesSlide9.xml" Id="R214802fbd98e4a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60117655b44c0" /><Relationship Type="http://schemas.openxmlformats.org/officeDocument/2006/relationships/notesSlide" Target="/ppt/notesSlides/notesSlide10.xml" Id="R3b4fc393cb7f40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af16b9bf34f02" /><Relationship Type="http://schemas.openxmlformats.org/officeDocument/2006/relationships/notesSlide" Target="/ppt/notesSlides/notesSlide11.xml" Id="Reeccd7f080d84d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1255e54f9492b" /><Relationship Type="http://schemas.openxmlformats.org/officeDocument/2006/relationships/notesSlide" Target="/ppt/notesSlides/notesSlide12.xml" Id="Rb0557bc555fe42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B97E0-47D5-4226-9951-7A7FE862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E781B-FF58-4D42-BD55-AE5EDB0C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PROYECTO INTEGRADOR ·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FDC2D-1FD2-45A4-94C6-47F5600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¿Qué hace que una</a:t>
            </a:r>
          </a:p>
          <a:p xmlns:a="http://schemas.openxmlformats.org/drawingml/2006/main">
            <a:pPr algn="l">
              <a:defRPr sz="45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película tenga éxito?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3BA46-A38A-49C2-A1CD-0BCCC57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Una exploración de datos históricos para entender</a:t>
            </a:r>
          </a:p>
          <a:p xmlns:a="http://schemas.openxmlformats.org/drawingml/2006/main">
            <a:pPr algn="l">
              <a:defRPr sz="21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qué patrones acompañan el desempeño en taquilla.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5DCA8-EE27-40F4-B467-5F38B985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66850"/>
            <a:ext cx="3333750" cy="4095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5211D"/>
          </a:solidFill>
          <a:ln xmlns:a="http://schemas.openxmlformats.org/drawingml/2006/main" w="9525">
            <a:solidFill>
              <a:srgbClr val="3521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37510-886A-4677-B0D7-9184D4C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431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D9B6"/>
                </a:solidFill>
                <a:latin typeface="Arial"/>
                <a:ea typeface="Arial"/>
                <a:cs typeface="Arial"/>
              </a:rPr>
              <a:t>UNA PREGUNTA</a:t>
            </a:r>
          </a:p>
          <a:p xmlns:a="http://schemas.openxmlformats.org/drawingml/2006/main">
            <a:pPr algn="ctr">
              <a:defRPr sz="1500" b="1">
                <a:solidFill>
                  <a:srgbClr val="F7D9B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D9B6"/>
                </a:solidFill>
                <a:latin typeface="Arial"/>
                <a:ea typeface="Arial"/>
                <a:cs typeface="Arial"/>
              </a:rPr>
              <a:t>DE CINE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A08F-E98F-4CEE-BD46-0E38A56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29000"/>
            <a:ext cx="476250" cy="1047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B72E4-BA9B-4A53-BD90-24E4C2B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429000"/>
            <a:ext cx="476250" cy="1047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04DC1-3378-4BA5-9AB2-800FE92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0"/>
            <a:ext cx="476250" cy="1047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31EE7-89AA-4892-AD22-59398C9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3429000"/>
            <a:ext cx="476250" cy="1047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E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87F62-5CB9-4E8D-9179-177CD0F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Datos · comparación · aprendizaje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5A563-FAF2-4778-97BC-7C5601CC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62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Dariana Pol Aramayo</a:t>
            </a:r>
          </a:p>
        </p:txBody>
      </p:sp>
    </p:spTree>
    <p:extLst>
      <p:ext uri="{BB962C8B-B14F-4D97-AF65-F5344CB8AC3E}">
        <p14:creationId xmlns:p14="http://schemas.microsoft.com/office/powerpoint/2010/main" val="1370663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8C69F-600D-4523-A537-77AE0222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POR QUÉ IMPORTA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9204D-DE46-4F87-9686-507712EC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Una decisión de taquilla siempre tiene incertidumbre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8B2E3-9C58-4661-9971-DA2C9D70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78990-6C23-4450-86F9-2ED4E1E3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98058-AB99-404D-B54A-4017D861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27130-E927-4E41-AC99-C6F4F217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FDC4C-A731-4CED-9B28-CD78E12E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02C41-2B29-4BFE-A4D7-703A9FBF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83D56-F5E0-4DF1-A202-B23A3F7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65F47-F2F3-4E6E-B86F-CE948C6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AFBE9-279E-4769-9C99-DA67011B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42293-BF76-4746-9079-1829C22A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079A5-61F5-4DAE-BB2E-85DB96D2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07DDC-CC04-49A4-9832-BF0DE1B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2A236-0A59-4832-BC5B-6A3EDA72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74862-1709-4BFF-93D9-96FC2D1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5CE1F-0457-4E7E-B350-23A701D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2FF33-798F-4293-8032-608A162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AA88E-CAA2-4E73-827E-E7BB978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162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Antes de que el público elija, ya hubo una apuesta.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CB9A5-69E9-4BE2-8A56-0C8C6F9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3524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58DE2-244A-4F3B-9ABF-6495240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INVERSIÓN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20066-8263-4404-8AC0-BA598502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¿Cuánto se destinó a producirla?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1D662-F5CC-4E59-8069-FCF85908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3524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E7A9D-9774-4073-81CD-E8137C1D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ESTRENO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528E0-DCF2-4471-8684-64D3BDE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¿Cuándo llegó a las salas?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F60C8-2012-42F7-8527-0FFC4CE0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3524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DB488-0980-474F-A34B-31B71B13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576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AUDIENCIA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623A65-56AD-4C33-BC1A-35401F48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¿Qué respuesta tuvo del público?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B08DA-4CE2-4ACC-AD24-C7C045B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La taquilla depende de muchos factores; los datos permiten explorar algunos, no controlar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658572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816926-40DB-4AE4-BABF-5A1C5E9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USO POSIBLE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AA618-332E-468A-B179-20D55E2D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¿A quién podría servir este análisis?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D3769-B5B5-45B1-BDFB-D19C2E9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779AD-EDE6-4D90-91F1-727D9F2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DF76B-A6D0-45D3-94C7-C98E9E6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DDC25-0FCA-40FC-8FA0-513E1AA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AC121-25A4-434E-A15D-B785CAAA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129F6-EF56-4568-9C32-BB7C29B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525A3-1821-47E8-8AEB-698A273B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1148F-4547-4BD5-BA4A-427F23F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3040C-C352-44DE-8D7C-CD15C22B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94A87-3261-4A0D-9364-A883FA9F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BF8E2-DE73-4C9E-B363-D7D12763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FAAF9-6890-429C-BB6E-FFDEDB31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1F8DA-4A9A-476D-8462-F5B8BC3B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D8D11-7CAF-4FD2-B5C9-71307286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F902C-609B-4E16-AE16-656B67E2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4E379-0217-49F6-8C5E-F6C6275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F4292-96E4-47AC-8122-90A9A425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638550" cy="2686050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49830-9124-40CA-9F7A-8FDC9E6B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28FA5-B9C2-4A82-80D7-62373AA5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2C34B-682D-472C-B33E-BD0B18E5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PRODUCTORAS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EAA86-7CDD-4220-80CF-C39A8014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Ordenar proyectos</a:t>
            </a:r>
          </a:p>
          <a:p xmlns:a="http://schemas.openxmlformats.org/drawingml/2006/main">
            <a: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y comparar apuestas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2C7BB-51E6-45A7-80D5-6139677A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3638550" cy="2686050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F7564-38C7-4BAA-AF37-2ED9BA9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F9B4EB-7543-4556-B192-FBB0B9E7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3698D-7BC1-4C3F-8F1E-D2279D70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DISTRIBUIDORAS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64528-C4CB-4BC4-B2C2-206A13F4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95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Observar películas</a:t>
            </a:r>
          </a:p>
          <a:p xmlns:a="http://schemas.openxmlformats.org/drawingml/2006/main">
            <a: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con perfiles parecidos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14544-CF38-45A5-99CE-A95C48D4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3638550" cy="2686050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619AB-08B3-4B17-8E99-1E54C47C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845C9-BA29-46CA-8057-CEDB56C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A688A-1DBF-4487-8736-235C00A9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81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ANALISTAS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B3322E-143E-43CA-8C0B-BD50E1F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195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Encontrar tendencias</a:t>
            </a:r>
          </a:p>
          <a:p xmlns:a="http://schemas.openxmlformats.org/drawingml/2006/main">
            <a:pPr algn="l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en datos históricos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701C6-4777-41FA-84A3-22AF4DB9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1181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Es una herramienta exploratoria; no reemplaza un análisis financiero ni la experiencia del sector.</a:t>
            </a:r>
          </a:p>
        </p:txBody>
      </p:sp>
    </p:spTree>
    <p:extLst>
      <p:ext uri="{BB962C8B-B14F-4D97-AF65-F5344CB8AC3E}">
        <p14:creationId xmlns:p14="http://schemas.microsoft.com/office/powerpoint/2010/main" val="468280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49169-0381-4B57-AB50-E39B2F73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A43F8-224A-48B5-A615-3802A304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La pregunta que guió el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81714-D442-4DA9-B163-FB4AFD8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DC87C-F34E-42BB-B208-4FE0B710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4A0F4-D1C9-40F1-8154-656D0D35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F17B6-1345-4597-9B36-8E89E1F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B9B74-6A43-40C6-AC57-90215AA2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F5F3-6D57-4CB6-894B-81B18520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3A61D-C320-40AE-BCF2-E35BBAE0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07122-54DB-4E8D-9B5C-22C08AB5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239E2-E010-4F37-9B81-29106B6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1F12-0B46-4D28-99CD-DA71AB8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7F958-E0C6-4471-B05A-ADF9D834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4FCC2-96B9-4E23-B543-902F49C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898F5-5C67-4980-AA3F-17C11AD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42B5B-8AC1-47DE-8926-0B0367D9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864BE-042D-4410-A545-07A5451F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F6B09-32F0-432E-8DF1-267D7901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B0BC7-609D-4FA7-BE4E-6CCC683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162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¿Qué características se relacionan con el desempeño comercial?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23AC4-34F3-4557-A6D4-F3F1D82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942975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5211D"/>
          </a:solidFill>
          <a:ln xmlns:a="http://schemas.openxmlformats.org/drawingml/2006/main" w="9525">
            <a:solidFill>
              <a:srgbClr val="3521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0A07C-F0E3-4445-B8E3-3C339D0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8625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Aprender de películas estrenadas y clasificar su resultado</a:t>
            </a:r>
          </a:p>
          <a:p xmlns:a="http://schemas.openxmlformats.org/drawingml/2006/main">
            <a:pPr algn="ctr">
              <a:defRPr sz="21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con una regla clara y medible.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89422-7FFD-4ED3-BA53-8990438C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No buscamos adivinar el gusto de cada espectador.</a:t>
            </a:r>
          </a:p>
        </p:txBody>
      </p:sp>
    </p:spTree>
    <p:extLst>
      <p:ext uri="{BB962C8B-B14F-4D97-AF65-F5344CB8AC3E}">
        <p14:creationId xmlns:p14="http://schemas.microsoft.com/office/powerpoint/2010/main" val="1496242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8E44CA-4F5A-4DAA-81E2-EAEF3BC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PROCESO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A020C-E909-4284-81DD-C3224A3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Así fue el recorrido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BB254-EB51-40C5-82F1-8547909D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663D8-6EFF-49F5-8443-49259E81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3C3AE-35A6-4F59-8A43-2AEB379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A1FD0-192C-4E4E-92A1-1D72FE18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B376C-C64D-4724-95BE-91659BA1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4866C-A414-4B77-9ABB-1A60094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4E077-F1B0-46BF-9255-4612B40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60F42-188A-4A96-B1FE-A732B6DF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1E917-11D0-40FB-8CE0-C7B648EB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40828-420E-49CC-9D73-A3D80E6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BCA1-381F-4794-9178-72C2425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C2C58-4F8B-47E2-A2D1-2193EE7D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A789C-594B-4890-A9F7-2F66F735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CE3DC-5832-4F4E-BA3E-E3AB926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61A7D-4918-4D76-A5D4-E887FBC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4DBFA-178C-47E6-984B-327081A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ACB48-7A3A-4F5D-8959-5037C26D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133600" cy="23622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96A5C-5A03-42D0-8F28-103A392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CA2A9-4558-459A-BE58-07DDB5F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31661-FA1E-406E-8C0A-33B4C69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Reunir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55701-1347-4054-8346-C2934AC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Dos archivos de películas y créditos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BB97B-CD5B-4C7D-8506-64A511FD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90925"/>
            <a:ext cx="333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A8929-B67E-4E29-991D-6F648FE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05100"/>
            <a:ext cx="2133600" cy="23622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6F380-30D4-4191-A66A-0CC5CFD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A980D-5F5B-433F-9513-E81FEF63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37C2A-8DCB-428A-BF28-C68AAE1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Preparar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87E5F2-95CF-4B8B-98B2-FFCE020D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910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Unir, revisar y limpiar registros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52842-A978-496F-9016-E07701E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590925"/>
            <a:ext cx="333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FF4CC-3DF3-444F-9572-73E4CFF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133600" cy="23622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447AE-661B-4298-97EF-C70F1AB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013B4-822C-4674-90EE-435F0D7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D933B9-39B6-4A8D-8274-0F7FF92A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Definir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09CA56-13AD-4EB4-8221-15A09236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Crear una etiqueta de éxito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B6C5B-02CF-41C7-A4D7-3F2D4EA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90925"/>
            <a:ext cx="333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6C14E6-9CAC-42C7-95C8-A2E07D0D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2133600" cy="23622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0C4E10-88DE-4425-8B26-E7DB4FCA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0AFE6-6614-4475-9015-DBF8EE3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8B7108-32DF-4FBA-A60E-7DDE89BC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52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Comparar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D6CF26-9C2A-4B89-9F19-3695C67D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Entrenar cuatro modelos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0441B1-88BB-4978-8E31-D250D66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590925"/>
            <a:ext cx="333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C8AA01-F984-4711-BEBE-EE9A4517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05100"/>
            <a:ext cx="2133600" cy="23622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B33111-4659-404B-97FF-C6D81810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8F1723-3B03-420C-A255-1A329BB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952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23F4D4-C0C4-423C-B702-87F0F02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52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Aprender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58E29C-34F1-494F-AB42-6B06031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910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Medir aciertos y límites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CF281F-B65C-4878-AEB0-C0C093D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La evaluación se hizo con datos reservados para comprobar el desempeño.</a:t>
            </a:r>
          </a:p>
        </p:txBody>
      </p:sp>
    </p:spTree>
    <p:extLst>
      <p:ext uri="{BB962C8B-B14F-4D97-AF65-F5344CB8AC3E}">
        <p14:creationId xmlns:p14="http://schemas.microsoft.com/office/powerpoint/2010/main" val="565660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5EDCC-AAF0-4164-9A6E-29BC3F3E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PREPARACIÓN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6B9A6-180D-47B5-B2F2-2AECB06E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No todas las películas tenían información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617C3-F664-4303-A94E-D036F63E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6C7B-A404-4F3F-877A-C80FF93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7AD-B277-44A2-AE8A-921E7C8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6A52F-0489-45DF-859B-F73D05CE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92A79-3CC2-4411-A18D-1DFFF423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9FC5D-2374-4711-854B-909A1FB1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0A9F6-4250-497B-A3F5-77FEB360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E4077-3AC9-4DF2-B096-2C042C3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13C1-E462-48E6-9150-91014CC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2112F-76BE-4758-A8B9-F331E77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2BA5C-8B4B-4664-BDC8-D6EDC780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CB479-566F-431D-B7B8-A174AB95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60FFC-68B6-48BA-B250-A547BEFF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A8189-5B57-431D-A8B1-643B4D23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C9DE5-AB3B-459A-A7DD-3AD688F3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74CE8-0736-4CE7-9E2D-5D0C342C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9CD1E-0481-46F3-BE33-BE6D6AB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defPPr>
            <a:lvl1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1pPr>
            <a:lvl2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2pPr>
            <a:lvl3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3pPr>
            <a:lvl4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4pPr>
            <a:lvl5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5pPr>
            <a:lvl6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6pPr>
            <a:lvl7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7pPr>
            <a:lvl8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8pPr>
            <a:lvl9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3150" b="1">
                <a:solidFill>
                  <a:srgbClr val="35211D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35211D"/>
                </a:solidFill>
                <a:latin typeface="Georgia"/>
                <a:ea typeface="Georgia"/>
                <a:cs typeface="Georgia"/>
              </a:rPr>
              <a:t>4.803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63070-0B9C-448E-8864-0170FB8F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28875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31DAF-6825-4325-8E07-66C8BCCE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películas al inicio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4F6D4-2E23-46DC-9A24-364AE3BD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defPPr>
            <a:lvl1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1pPr>
            <a:lvl2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2pPr>
            <a:lvl3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3pPr>
            <a:lvl4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4pPr>
            <a:lvl5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5pPr>
            <a:lvl6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6pPr>
            <a:lvl7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7pPr>
            <a:lvl8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8pPr>
            <a:lvl9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315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BD6E35"/>
                </a:solidFill>
                <a:latin typeface="Georgia"/>
                <a:ea typeface="Georgia"/>
                <a:cs typeface="Georgia"/>
              </a:rPr>
              <a:t>1.574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26084-D855-4180-87EF-F79BC43E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A6731-8562-4AFD-828F-A24E3EAB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sin datos suficientes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73849-0188-45AC-941B-4AFE78BF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defPPr>
            <a:lvl1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1pPr>
            <a:lvl2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2pPr>
            <a:lvl3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3pPr>
            <a:lvl4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4pPr>
            <a:lvl5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5pPr>
            <a:lvl6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6pPr>
            <a:lvl7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7pPr>
            <a:lvl8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8pPr>
            <a:lvl9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315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397B98"/>
                </a:solidFill>
                <a:latin typeface="Georgia"/>
                <a:ea typeface="Georgia"/>
                <a:cs typeface="Georgia"/>
              </a:rPr>
              <a:t>3.229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4C576-C605-43AC-80B2-89FA0CC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91075"/>
            <a:ext cx="3714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B74E7-45CE-48EF-9A0D-8EC02B49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películas analizables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3B809-47BB-4380-B5F9-271FA10C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91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Se necesitaban presupuesto, recaudación y fecha válidos.</a:t>
            </a:r>
          </a:p>
        </p:txBody>
      </p:sp>
    </p:spTree>
    <p:extLst>
      <p:ext uri="{BB962C8B-B14F-4D97-AF65-F5344CB8AC3E}">
        <p14:creationId xmlns:p14="http://schemas.microsoft.com/office/powerpoint/2010/main" val="1528352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F3A30-F0DE-480E-A8DE-882D7054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LA REGLA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E44E9-48FD-44C7-92BD-AD606BAC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¿Qué llamamos “éxito comercial”?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6BE36-0BAB-4235-B0AE-4F621C3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5C0F3-A1AC-49F6-9F53-EA27C64C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CC04F-EBDD-42FD-9088-6D04C34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6A1AC-C82D-43A7-8406-BEBD9D55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986FE-88BC-4AB6-9F20-5FEEAF7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04DA5-F577-4A07-9AD8-5024569D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C4BA9-2FD6-4841-A051-19C438E6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98BD0-C800-4ECB-9873-BC875FB0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DF467-2584-4F9A-9431-4E104918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CEE46-02B7-45D5-AD40-09F0D052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B682C-283D-455B-AB77-50F5A0A3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AA3E5-4BD5-45FC-9024-766B7FC2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28F67-E8BD-4E63-8055-6360661D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794F3-990F-4084-B0B9-DCB639CB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09B72-3B88-4079-BB5D-264C9E53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AC4BD-5A9D-47AD-BDCA-E4C317C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7DA8A-7171-4BB5-BFF5-5B9FC93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106680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5D450-0E7D-40BF-905C-B48AA092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B98"/>
                </a:solidFill>
                <a:latin typeface="Arial"/>
                <a:ea typeface="Arial"/>
                <a:cs typeface="Arial"/>
              </a:rPr>
              <a:t>RECAUDACIÓN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157A6-3CA9-4DBB-ACB2-DAB0E3A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BD6E35"/>
                </a:solidFill>
                <a:latin typeface="Georgia"/>
                <a:ea typeface="Georgia"/>
                <a:cs typeface="Georgia"/>
              </a:rPr>
              <a:t>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F4126-87B0-44F4-8CBE-721CBFB8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2 × PRESUPUESTO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C47C8-78D1-4B44-A6B4-B44436C2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385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Si recaudó al menos el doble del presupuesto,</a:t>
            </a:r>
          </a:p>
          <a:p xmlns:a="http://schemas.openxmlformats.org/drawingml/2006/main">
            <a:pPr algn="ctr">
              <a:defRPr sz="202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la clasificamos como éxito.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223AA-70FA-42A1-B22A-E768EA57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Es una regla simple: no incluye marketing, distribución ni otros costos.</a:t>
            </a:r>
          </a:p>
        </p:txBody>
      </p:sp>
    </p:spTree>
    <p:extLst>
      <p:ext uri="{BB962C8B-B14F-4D97-AF65-F5344CB8AC3E}">
        <p14:creationId xmlns:p14="http://schemas.microsoft.com/office/powerpoint/2010/main" val="1644840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50383-F7D3-49B2-AA74-64D8070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QUÉ ENCONTRAMOS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BE958-0C6D-440F-BF55-F0F3B624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En la muestra, las dos clases estaban relativamente balanceadas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0AE37-8144-4D93-887B-8098AD8E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63E48-8A3A-419C-B6F5-E255DD6A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F8336-63AA-4565-8351-87CEFAD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B5CB3-B49C-4C4F-99E7-27A82027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9BEC0-976C-44D0-9C26-A5214411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93281-8728-4148-A05C-675E6BF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71A50-5B8D-4BF2-AD2D-72B62CC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EE8DB-0B68-4AF8-A0B1-214D083E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3823D-942A-4AD6-8572-74410A55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805AD-1E22-4B76-BBC4-C60EE1B5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6A666-6173-4DCF-92C2-774D59C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95AEE-C8B3-474E-9BBB-0417468A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7FBF8-21DB-433A-B85D-8C9EF9A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7134D-0B23-4143-AC5C-6885B1A1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ECF58-273A-4995-8018-1ECD4E48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C7C09-A363-4508-8A2F-1420ADBF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F4269-1C7A-450C-AE33-B30C0A78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10477500" cy="8001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9D7C2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47BA8-BE2F-492A-8D48-7BC4B85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5869866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AA9F7-D747-45C6-A47A-6AEA7F1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B98"/>
                </a:solidFill>
                <a:latin typeface="Arial"/>
                <a:ea typeface="Arial"/>
                <a:cs typeface="Arial"/>
              </a:rPr>
              <a:t>ÉXITO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7C0F6-D25C-4CB7-89A4-84F3B9CE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1.809 películas · 56%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327F0-7821-4C20-BBDD-E9128AB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NO éxito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90337-4668-42BC-B31F-42B6A23F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1.420 películas · 44%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A7D19-B9F9-4A8A-B0E1-1571597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43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Esta proporción sirve como punto de partida para juzgar los modelos.</a:t>
            </a:r>
          </a:p>
        </p:txBody>
      </p:sp>
    </p:spTree>
    <p:extLst>
      <p:ext uri="{BB962C8B-B14F-4D97-AF65-F5344CB8AC3E}">
        <p14:creationId xmlns:p14="http://schemas.microsoft.com/office/powerpoint/2010/main" val="19391351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C37B41-D8AB-4857-8FEE-CD0CDA1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MODELOS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4055-F3B6-43F8-A651-BBC0A56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Probamos cuatro maneras de reconocer patrones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FD0EB-329C-4F9E-9747-C0F1E76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9800A-E7A3-4BDA-94F7-57DD7267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28F49-EABF-4077-BB7C-E2D113E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D6123-B319-40F4-BBF0-E9D94281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C53F-EC4B-4D96-A882-612A457F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E8ED1-79F1-4569-A33F-4B39847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76F4A-E8F8-4876-8C53-0875DCD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72AF9-67AB-4C25-9AE8-C4A6692A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B521A-7B37-468E-BB6B-1E48558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6FDB7-1012-409B-8A07-A1F8150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2ADFE-EE12-4502-A4DB-0A30AA2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83D40-A75D-425E-8949-6DE5E4F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79D8E-E477-443F-96F2-3A023F9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E9315-BE53-43EC-A4DD-BB0BD43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3D2C9-8846-430D-A8B9-1627E13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2C347-A2B2-4727-99A5-636ABCA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7811D-9B11-4BEA-8176-8ABEE0F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781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2C6D6-159A-4595-803E-D956061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28950"/>
            <a:ext cx="552450" cy="457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78134-601F-42D7-B3E9-4F4FF058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861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136BC-89E7-4CE8-B90B-DE08F6B3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719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22BCA-1023-4336-87EB-0970B2A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719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F366E-5B75-4012-B1DF-20E08138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Árbol de decisión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CA83A-D751-47C9-AB26-DAF06C3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Reglas que se pueden seguir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ED8CC-D677-4FAE-A9A4-C5CFEB48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67000"/>
            <a:ext cx="2781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242C6E-907D-46CC-B80D-8E19FCFB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C991A-CFA3-44A2-A71F-8D132A8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C973F-1E53-4F11-84DB-9BE49772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33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97918-8EF1-4E0B-874D-7B1AC0CC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71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SVM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7DBDF-6697-4993-BCB4-5002073A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52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Busca una separación entre grupos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F631A3-D82F-41EF-8875-3FB5B751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2781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0A942-4C97-4BFF-B422-1B17DDA7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361950" cy="304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8D4309-93C9-4F05-9A96-48CCAF1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1FC711-0886-4A95-A6F1-B8E8F365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61950" cy="304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DC679E-7C4C-4778-8091-1CC66584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271F74-9839-410E-B0E9-75C3E05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361950" cy="304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B0841B-9941-476E-8878-CCB00764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66135C-02B5-4CE6-AD02-568185EE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Random Forest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CB17FC-2DD3-41CC-A954-93F0696C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52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Combina muchos árboles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3465C2-78C0-4FBE-85C6-FEF45CF4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67000"/>
            <a:ext cx="2781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B426B-F945-4F08-B0F8-0C3037E2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5814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7609E2-69C8-4D9A-A32D-36A234EA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57575"/>
            <a:ext cx="2095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5814C3-F3D9-4421-92F4-0F616808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33750"/>
            <a:ext cx="209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AD413-A9F5-4579-898A-6F9E00B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209925"/>
            <a:ext cx="2095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3FD259-0779-4DE9-B2CF-8A91795D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71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Gradient Boosting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4907D7-3676-4B1A-BE13-F36E478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52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Aprende corrigiendo errores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592D8E-B899-4376-B56E-56F5348C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La comparación importa más que el nombre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1069032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1BF8F8-E76E-4150-A4B1-84933D7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05132-0B47-4099-B48B-9AFD1003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El mejor resultado fue 66,1% de aciertos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048D-92C8-45CC-BB58-A7D104E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9B7A3-A2BC-43FA-BFEA-6970B4D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22D4F-B1A2-4159-BC36-528E1A4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471B8-9CDD-4CF5-AD46-90D3C88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24F58-0B7C-442A-B7A7-20C8F63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DDCBA-379B-45BC-8AA4-56EBB059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B24BF-9E12-40DC-9FBB-09BBA4E4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6E935-6195-4C78-B43E-7714B68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5EF11-A54F-4AA3-BEE5-9B9A3A6B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AB223-CB62-459B-AB84-D68A177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84CB3-4974-4E80-B903-BB1E8035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53C68-2CCF-48CC-8A52-3BD88D01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FD894-8DF8-4C4D-BBFA-E9AD89E5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A0E5E-6E30-4ECE-B754-3FA1A30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B5C7F-10F8-4B88-8F05-0FFC5FF6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ABE53-30D9-459F-BE05-DD8B14E3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0C031-DF1F-4E7A-8502-EECAAC0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SVM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58C72-29A2-4008-9381-3ADE36D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8010D-0FA9-4244-A161-DA8390A4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4344257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3FF4C-2789-4ABD-8DA7-D2268D87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81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defPPr>
            <a:lvl1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1pPr>
            <a:lvl2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2pPr>
            <a:lvl3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3pPr>
            <a:lvl4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4pPr>
            <a:lvl5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5pPr>
            <a:lvl6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6pPr>
            <a:lvl7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7pPr>
            <a:lvl8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8pPr>
            <a:lvl9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97B9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7B98"/>
                </a:solidFill>
                <a:latin typeface="Arial"/>
                <a:ea typeface="Arial"/>
                <a:cs typeface="Arial"/>
              </a:rPr>
              <a:t>66,1%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57306-1C4B-4991-9907-6832B1F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84636-9A42-4CFE-9355-3034AEC4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27062-EA04-4F4A-A47D-CEFBD756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421938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D6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18FFD-FCA8-41A5-9F73-10BE168E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81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64,2%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ADF23-A199-4EF0-81D2-E9D7A244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BFBA0-EAAC-4964-9053-9116C3D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EE652-5E23-4705-83B5-8D346DF8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4140518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1B962-3E23-439A-B652-16598EB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81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defPPr>
            <a:lvl1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1pPr>
            <a:lvl2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2pPr>
            <a:lvl3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3pPr>
            <a:lvl4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4pPr>
            <a:lvl5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5pPr>
            <a:lvl6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6pPr>
            <a:lvl7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7pPr>
            <a:lvl8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8pPr>
            <a:lvl9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521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211D"/>
                </a:solidFill>
                <a:latin typeface="Arial"/>
                <a:ea typeface="Arial"/>
                <a:cs typeface="Arial"/>
              </a:rPr>
              <a:t>63,0%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D9FC45-657C-4FB1-A03A-F19A14DC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Árbol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A19E1-0D12-4731-82A8-F863C74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30CE2-314A-4EAD-A5A0-191D381B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3785616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1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A466AC-63FA-4A14-8B0F-B2944B90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81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defPPr>
            <a:lvl1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1pPr>
            <a:lvl2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2pPr>
            <a:lvl3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3pPr>
            <a:lvl4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4pPr>
            <a:lvl5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5pPr>
            <a:lvl6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6pPr>
            <a:lvl7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7pPr>
            <a:lvl8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8pPr>
            <a:lvl9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718A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8A72"/>
                </a:solidFill>
                <a:latin typeface="Arial"/>
                <a:ea typeface="Arial"/>
                <a:cs typeface="Arial"/>
              </a:rPr>
              <a:t>57,6%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EFF781-0075-4294-B375-31272D3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81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88D40B-EE19-4DEF-93B5-8C8D86FE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D14F4-FF61-403C-B788-C37D3F90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368046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9A3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82BD03-3826-4314-BCA8-FBCFB88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816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defPPr>
            <a:lvl1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1pPr>
            <a:lvl2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2pPr>
            <a:lvl3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3pPr>
            <a:lvl4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4pPr>
            <a:lvl5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5pPr>
            <a:lvl6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6pPr>
            <a:lvl7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7pPr>
            <a:lvl8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8pPr>
            <a:lvl9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A3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A39D"/>
                </a:solidFill>
                <a:latin typeface="Arial"/>
                <a:ea typeface="Arial"/>
                <a:cs typeface="Arial"/>
              </a:rPr>
              <a:t>56,0%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1D4791-A80E-4578-8B14-F68EA30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10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Prueba del proyecto · accuracy (porcentaje de clasificaciones correctas)</a:t>
            </a:r>
          </a:p>
        </p:txBody>
      </p:sp>
    </p:spTree>
    <p:extLst>
      <p:ext uri="{BB962C8B-B14F-4D97-AF65-F5344CB8AC3E}">
        <p14:creationId xmlns:p14="http://schemas.microsoft.com/office/powerpoint/2010/main" val="622753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DEB79-EA4A-4662-8715-4D087A03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CÓMO LEER EL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2A04C-7C68-4754-80A5-0FF9448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El modelo mejora la referencia, pero aún se equivoca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6ABED-5FEB-4132-A54B-BDAF28F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82972-7D68-4367-808E-8EF2A1F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EBF19-6238-4F30-BBF3-23409DE5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29D24-BAF0-4873-BF74-38AD8EE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A1E61-DA1F-40F4-887A-DC018057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DD4E9-E520-48B6-8FC7-ABF087A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EE7AD-8F73-407D-98B5-7747988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135FD-CD86-45ED-9063-C869E53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7915F-EDED-4369-AE36-EBCC1525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8E4BA-EDDC-4CDA-8386-B7FB723B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2CD7A-018A-41EC-8CE1-3EF9A28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760B5-FCD0-4E32-97E0-F8A0C108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FCF5A-DA62-4623-AEA7-7D3C4B08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F8743-5E77-489A-A06D-091D1460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5CA89-5A5E-49EC-AC51-B8DDEE1C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8C4BB-39E9-42D8-94C3-DC755ED5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B6748-95D0-496C-8986-48542055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De cada 100 películas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28D8E-DB9B-44A7-A1FD-BE1E429D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5048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F8F9B-F354-4BA1-86B7-6B198242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397B98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397B98"/>
                </a:solidFill>
                <a:latin typeface="Georgia"/>
                <a:ea typeface="Georgia"/>
                <a:cs typeface="Georgia"/>
              </a:rPr>
              <a:t>≈ 66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0071F-6032-4B2D-B4FC-E068FDD2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575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clasificadas correctamente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EBE8A-0DD5-4BBE-A0CE-39C296F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BD6E35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BD6E35"/>
                </a:solidFill>
                <a:latin typeface="Georgia"/>
                <a:ea typeface="Georgia"/>
                <a:cs typeface="Georgia"/>
              </a:rPr>
              <a:t>≈ 34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13965-8650-46B9-A9E7-FD791CE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957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A2B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2B22"/>
                </a:solidFill>
                <a:latin typeface="Arial"/>
                <a:ea typeface="Arial"/>
                <a:cs typeface="Arial"/>
              </a:rPr>
              <a:t>clasificadas incorrectamente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B5DD4-42B8-422F-9757-5603F4A1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86100"/>
            <a:ext cx="52387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35211D"/>
          </a:solidFill>
          <a:ln xmlns:a="http://schemas.openxmlformats.org/drawingml/2006/main" w="9525">
            <a:solidFill>
              <a:srgbClr val="3521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3D533-9E38-42BA-AF31-F13B7BCF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C27B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1C27B"/>
                </a:solidFill>
                <a:latin typeface="Georgia"/>
                <a:ea typeface="Georgia"/>
                <a:cs typeface="Georgia"/>
              </a:rPr>
              <a:t>+10,1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84CDF-A3CE-4AD3-8F48-30DD81BD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90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puntos sobre la</a:t>
            </a:r>
          </a:p>
          <a:p xmlns:a="http://schemas.openxmlformats.org/drawingml/2006/main">
            <a:pPr algn="l">
              <a:defRPr sz="150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referencia de 56%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3A9EA-2736-43C8-A59D-D726CC65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721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Accuracy no muestra por sí sola qué tipo de error comete el modelo.</a:t>
            </a:r>
          </a:p>
        </p:txBody>
      </p:sp>
    </p:spTree>
    <p:extLst>
      <p:ext uri="{BB962C8B-B14F-4D97-AF65-F5344CB8AC3E}">
        <p14:creationId xmlns:p14="http://schemas.microsoft.com/office/powerpoint/2010/main" val="289979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BD273-1D8A-4F99-AAC9-D496C07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092C2-AA91-4D3A-941E-A2A935F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¿Qué nos deja el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447EF-7350-4D62-AE7C-A95CB505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226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06B8C-BB97-4249-8CB3-154E136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C9D93-8FEF-4C53-9AD7-5B835395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F1A45-71BC-4DC5-AB1D-04942526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47254-D2D2-44DB-8FCE-791D155C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97DA7-B479-46B9-AF93-A631B4E2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8D8D-7077-45F6-A55C-56C14F9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C03BB-E7D3-4C37-90D0-9B8C638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6CB14-10A3-4F95-8D60-AE9A896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221EB-2F39-4514-8674-4DB0C2BC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DA80-E27C-4251-80DA-46F11CE6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5FE82-6CB7-4F8A-B382-9B93B54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F751C-3956-4076-863F-E01CD5B6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24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D2991-7C93-4506-91DB-9B260A73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4EC82-28CA-490F-A6D5-2B1FBA7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EA228-E64F-477E-AD6E-6DFBF1CD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08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C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CF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ABD41-26C6-496C-BB15-824B0ED4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8102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11D"/>
          </a:solidFill>
          <a:ln xmlns:a="http://schemas.openxmlformats.org/drawingml/2006/main" w="9525">
            <a:solidFill>
              <a:srgbClr val="3521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E14FF-0AD5-416F-AB61-AC23C119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1C2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C27B"/>
                </a:solidFill>
                <a:latin typeface="Arial"/>
                <a:ea typeface="Arial"/>
                <a:cs typeface="Arial"/>
              </a:rPr>
              <a:t>SÍ PUEDE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85ADD-020E-4586-A269-AFC8C6C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FCF7"/>
                </a:solidFill>
                <a:latin typeface="Georgia"/>
                <a:ea typeface="Georgia"/>
                <a:cs typeface="Georgia"/>
              </a:rPr>
              <a:t>Ayudar a explorar patrones</a:t>
            </a:r>
          </a:p>
          <a:p xmlns:a="http://schemas.openxmlformats.org/drawingml/2006/main">
            <a:pPr algn="l">
              <a:defRPr sz="2400" b="1">
                <a:solidFill>
                  <a:srgbClr val="FFFCF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FCF7"/>
                </a:solidFill>
                <a:latin typeface="Georgia"/>
                <a:ea typeface="Georgia"/>
                <a:cs typeface="Georgia"/>
              </a:rPr>
              <a:t>y comparar películas del pasado.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4648C-86D0-4250-9E39-F5A993F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8E3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3EC"/>
                </a:solidFill>
                <a:latin typeface="Arial"/>
                <a:ea typeface="Arial"/>
                <a:cs typeface="Arial"/>
              </a:rPr>
              <a:t>Útil para orientar preguntas y análisis.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B610A-2E12-4000-8327-E97E359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58102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7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AC5A2-9391-4D00-8E2C-ED2F4F3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TODAVÍA 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1F188-F573-442E-B919-CEBE18E1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No predice con certeza antes</a:t>
            </a:r>
          </a:p>
          <a:p xmlns:a="http://schemas.openxmlformats.org/drawingml/2006/main">
            <a:pPr algn="l">
              <a:defRPr sz="2400" b="1">
                <a:solidFill>
                  <a:srgbClr val="4A2B2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4A2B22"/>
                </a:solidFill>
                <a:latin typeface="Georgia"/>
                <a:ea typeface="Georgia"/>
                <a:cs typeface="Georgia"/>
              </a:rPr>
              <a:t>del estreno ni mide ganancias netas.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FED83-69FF-4569-AD1A-80EC2E1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8069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0695B"/>
                </a:solidFill>
                <a:latin typeface="Arial"/>
                <a:ea typeface="Arial"/>
                <a:cs typeface="Arial"/>
              </a:rPr>
              <a:t>Siguiente paso: mejores datos y prueba por año.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431EA-A972-4DFF-BA7A-EDE561A0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84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D6E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6E35"/>
                </a:solidFill>
                <a:latin typeface="Arial"/>
                <a:ea typeface="Arial"/>
                <a:cs typeface="Arial"/>
              </a:rPr>
              <a:t>Una buena predicción empieza por una buena pregunta y datos confiables.</a:t>
            </a:r>
          </a:p>
        </p:txBody>
      </p:sp>
    </p:spTree>
    <p:extLst>
      <p:ext uri="{BB962C8B-B14F-4D97-AF65-F5344CB8AC3E}">
        <p14:creationId xmlns:p14="http://schemas.microsoft.com/office/powerpoint/2010/main" val="817885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2026-10-17T03:13:54.9100000Z</dcterms:created>
  <dcterms:modified xsi:type="dcterms:W3CDTF">2026-10-17T03:13:54.9110000Z</dcterms:modified>
</coreProperties>
</file>